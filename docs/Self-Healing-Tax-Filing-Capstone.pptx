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9976104" y="1728216"/>
            <a:ext cx="0" cy="576072"/>
          </a:xfrm>
          <a:prstGeom prst="line">
            <a:avLst/>
          </a:prstGeom>
          <a:ln w="19050">
            <a:solidFill>
              <a:srgbClr val="2A35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829800" y="1417320"/>
            <a:ext cx="292608" cy="292608"/>
          </a:xfrm>
          <a:prstGeom prst="ellipse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80092" y="1467612"/>
            <a:ext cx="192024" cy="192024"/>
          </a:xfrm>
          <a:prstGeom prst="ellipse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21240" y="1508760"/>
            <a:ext cx="109728" cy="109728"/>
          </a:xfrm>
          <a:prstGeom prst="ellipse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0" y="138988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40">
                <a:solidFill>
                  <a:srgbClr val="66728C"/>
                </a:solidFill>
                <a:latin typeface="Helvetica Neue"/>
              </a:rPr>
              <a:t>01</a:t>
            </a:r>
            <a:r>
              <a:rPr sz="1350" b="0" i="0">
                <a:solidFill>
                  <a:srgbClr val="F4F6FB"/>
                </a:solidFill>
                <a:latin typeface="Helvetica Neue"/>
              </a:rPr>
              <a:t>  Reading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976104" y="2596896"/>
            <a:ext cx="0" cy="576072"/>
          </a:xfrm>
          <a:prstGeom prst="line">
            <a:avLst/>
          </a:prstGeom>
          <a:ln w="19050">
            <a:solidFill>
              <a:srgbClr val="2A35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829800" y="2286000"/>
            <a:ext cx="292608" cy="292608"/>
          </a:xfrm>
          <a:prstGeom prst="ellipse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80092" y="2336292"/>
            <a:ext cx="192024" cy="192024"/>
          </a:xfrm>
          <a:prstGeom prst="ellipse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21240" y="2377440"/>
            <a:ext cx="109728" cy="109728"/>
          </a:xfrm>
          <a:prstGeom prst="ellipse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7000" y="225856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40">
                <a:solidFill>
                  <a:srgbClr val="66728C"/>
                </a:solidFill>
                <a:latin typeface="Helvetica Neue"/>
              </a:rPr>
              <a:t>02</a:t>
            </a:r>
            <a:r>
              <a:rPr sz="1350" b="0" i="0">
                <a:solidFill>
                  <a:srgbClr val="F4F6FB"/>
                </a:solidFill>
                <a:latin typeface="Helvetica Neue"/>
              </a:rPr>
              <a:t>  Tax Processing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76104" y="3465576"/>
            <a:ext cx="0" cy="576072"/>
          </a:xfrm>
          <a:prstGeom prst="line">
            <a:avLst/>
          </a:prstGeom>
          <a:ln w="19050">
            <a:solidFill>
              <a:srgbClr val="2A35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829800" y="3154680"/>
            <a:ext cx="292608" cy="2926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80092" y="3204972"/>
            <a:ext cx="192024" cy="192024"/>
          </a:xfrm>
          <a:prstGeom prst="ellipse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324612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0" y="3127248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40">
                <a:solidFill>
                  <a:srgbClr val="66728C"/>
                </a:solidFill>
                <a:latin typeface="Helvetica Neue"/>
              </a:rPr>
              <a:t>03</a:t>
            </a:r>
            <a:r>
              <a:rPr sz="1350" b="0" i="0">
                <a:solidFill>
                  <a:srgbClr val="F4F6FB"/>
                </a:solidFill>
                <a:latin typeface="Helvetica Neue"/>
              </a:rPr>
              <a:t>  Verification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76104" y="4334255"/>
            <a:ext cx="0" cy="576072"/>
          </a:xfrm>
          <a:prstGeom prst="line">
            <a:avLst/>
          </a:prstGeom>
          <a:ln w="19050">
            <a:solidFill>
              <a:srgbClr val="2A35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829800" y="4023359"/>
            <a:ext cx="292608" cy="292608"/>
          </a:xfrm>
          <a:prstGeom prst="ellipse">
            <a:avLst/>
          </a:prstGeom>
          <a:solidFill>
            <a:srgbClr val="F5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80092" y="4073651"/>
            <a:ext cx="192024" cy="192024"/>
          </a:xfrm>
          <a:prstGeom prst="ellipse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21240" y="4114799"/>
            <a:ext cx="109728" cy="109728"/>
          </a:xfrm>
          <a:prstGeom prst="ellipse">
            <a:avLst/>
          </a:prstGeom>
          <a:solidFill>
            <a:srgbClr val="F5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3995927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40">
                <a:solidFill>
                  <a:srgbClr val="66728C"/>
                </a:solidFill>
                <a:latin typeface="Helvetica Neue"/>
              </a:rPr>
              <a:t>04</a:t>
            </a:r>
            <a:r>
              <a:rPr sz="1350" b="0" i="0">
                <a:solidFill>
                  <a:srgbClr val="F4F6FB"/>
                </a:solidFill>
                <a:latin typeface="Helvetica Neue"/>
              </a:rPr>
              <a:t>  Remediation</a:t>
            </a:r>
          </a:p>
        </p:txBody>
      </p:sp>
      <p:sp>
        <p:nvSpPr>
          <p:cNvPr id="24" name="Oval 23"/>
          <p:cNvSpPr/>
          <p:nvPr/>
        </p:nvSpPr>
        <p:spPr>
          <a:xfrm>
            <a:off x="9829800" y="4892040"/>
            <a:ext cx="292608" cy="292608"/>
          </a:xfrm>
          <a:prstGeom prst="ellipse">
            <a:avLst/>
          </a:prstGeom>
          <a:solidFill>
            <a:srgbClr val="A9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0092" y="4942331"/>
            <a:ext cx="192024" cy="192024"/>
          </a:xfrm>
          <a:prstGeom prst="ellipse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21240" y="4983479"/>
            <a:ext cx="109728" cy="109728"/>
          </a:xfrm>
          <a:prstGeom prst="ellipse">
            <a:avLst/>
          </a:prstGeom>
          <a:solidFill>
            <a:srgbClr val="A9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4864607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40">
                <a:solidFill>
                  <a:srgbClr val="66728C"/>
                </a:solidFill>
                <a:latin typeface="Helvetica Neue"/>
              </a:rPr>
              <a:t>05</a:t>
            </a:r>
            <a:r>
              <a:rPr sz="1350" b="0" i="0">
                <a:solidFill>
                  <a:srgbClr val="F4F6FB"/>
                </a:solidFill>
                <a:latin typeface="Helvetica Neue"/>
              </a:rPr>
              <a:t>  Documentation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10515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40">
                <a:solidFill>
                  <a:srgbClr val="34D399"/>
                </a:solidFill>
                <a:latin typeface="Helvetica Neue"/>
              </a:rPr>
              <a:t>CAPSTONE  ·  ENTERPRISE ASSISTANT 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664208"/>
            <a:ext cx="8778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000" b="1" i="0">
                <a:solidFill>
                  <a:srgbClr val="F4F6FB"/>
                </a:solidFill>
                <a:latin typeface="Helvetica Neue"/>
              </a:rPr>
              <a:t>Self-Healing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6000" b="1" i="0">
                <a:solidFill>
                  <a:srgbClr val="F4F6FB"/>
                </a:solidFill>
                <a:latin typeface="Helvetica Neue"/>
              </a:rPr>
              <a:t>Multi-Agent Tax Filing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3767328"/>
            <a:ext cx="1371600" cy="502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95935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F4F6FB"/>
                </a:solidFill>
                <a:latin typeface="Helvetica Neue"/>
              </a:rPr>
              <a:t>LLMs read. Deterministic code decides. </a:t>
            </a:r>
            <a:r>
              <a:rPr sz="2000" b="1" i="0">
                <a:solidFill>
                  <a:srgbClr val="34D399"/>
                </a:solidFill>
                <a:latin typeface="Helvetica Neue"/>
              </a:rPr>
              <a:t>Every number traces to a source.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572000"/>
            <a:ext cx="8595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93A0B8"/>
                </a:solidFill>
                <a:latin typeface="Helvetica Neue"/>
              </a:rPr>
              <a:t>A local-first system that turns a pile of US tax documents into a verified,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450" b="0" i="0">
                <a:solidFill>
                  <a:srgbClr val="93A0B8"/>
                </a:solidFill>
                <a:latin typeface="Helvetica Neue"/>
              </a:rPr>
              <a:t>line-numbered Form 1040 — without letting a model do the tax arithmetic.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5806440"/>
            <a:ext cx="8046720" cy="18288"/>
          </a:xfrm>
          <a:prstGeom prst="rect">
            <a:avLst/>
          </a:prstGeom>
          <a:solidFill>
            <a:srgbClr val="2A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989320"/>
            <a:ext cx="5943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60">
                <a:solidFill>
                  <a:srgbClr val="66728C"/>
                </a:solidFill>
                <a:latin typeface="Helvetica Neue"/>
              </a:rPr>
              <a:t>TEAM   </a:t>
            </a:r>
            <a:r>
              <a:rPr sz="1400" b="1" i="0">
                <a:solidFill>
                  <a:srgbClr val="F4F6FB"/>
                </a:solidFill>
                <a:latin typeface="Helvetica Neue"/>
              </a:rPr>
              <a:t>[ Team Member Names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98932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 i="0">
                <a:solidFill>
                  <a:srgbClr val="93A0B8"/>
                </a:solidFill>
                <a:latin typeface="Helvetica Neue"/>
              </a:rPr>
              <a:t>FinTech · RegTech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40">
                <a:solidFill>
                  <a:srgbClr val="F26D6D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F4F6FB"/>
                </a:solidFill>
                <a:latin typeface="Helvetica Neue"/>
              </a:rPr>
              <a:t>Filing a return is high-stakes — and today’s tools force a bad trade.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50" b="1" i="0">
                <a:solidFill>
                  <a:srgbClr val="34D399"/>
                </a:solidFill>
                <a:latin typeface="Helvetica Neue"/>
              </a:rPr>
              <a:t>Meet the target user: </a:t>
            </a:r>
            <a:r>
              <a:rPr sz="1550" b="0" i="0">
                <a:solidFill>
                  <a:srgbClr val="93A0B8"/>
                </a:solidFill>
                <a:latin typeface="Helvetica Neue"/>
              </a:rPr>
              <a:t>an individual filer (or a small tax-prep shop) with a shoebox of W-2s, 1099s, K-1s and 1098s. One wrong figure means an IRS notice, a penalty, or an audit. The stakes are real; the margin for error is zero.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063240"/>
            <a:ext cx="3401568" cy="2331720"/>
          </a:xfrm>
          <a:prstGeom prst="roundRect">
            <a:avLst>
              <a:gd name="adj" fmla="val 6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063240"/>
            <a:ext cx="3401568" cy="6400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61288" y="3447288"/>
            <a:ext cx="146304" cy="14630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35607" y="3337560"/>
            <a:ext cx="25786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4F6FB"/>
                </a:solidFill>
                <a:latin typeface="Helvetica Neue"/>
              </a:rPr>
              <a:t>DIY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931920"/>
            <a:ext cx="2816352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3A0B8"/>
                </a:solidFill>
                <a:latin typeface="Helvetica Neue"/>
              </a:rPr>
              <a:t>You re-key every box by hand. A typo in Box 1 flows silently into the return — no evidence trail, and the error surfaces months later in the mail.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3063240"/>
            <a:ext cx="3401568" cy="2331720"/>
          </a:xfrm>
          <a:prstGeom prst="roundRect">
            <a:avLst>
              <a:gd name="adj" fmla="val 6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44568" y="3063240"/>
            <a:ext cx="3401568" cy="64008"/>
          </a:xfrm>
          <a:prstGeom prst="rect">
            <a:avLst/>
          </a:prstGeom>
          <a:solidFill>
            <a:srgbClr val="F5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37176" y="3447288"/>
            <a:ext cx="146304" cy="146304"/>
          </a:xfrm>
          <a:prstGeom prst="ellipse">
            <a:avLst/>
          </a:prstGeom>
          <a:solidFill>
            <a:srgbClr val="F5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1496" y="3337560"/>
            <a:ext cx="25786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4F6FB"/>
                </a:solidFill>
                <a:latin typeface="Helvetica Neue"/>
              </a:rPr>
              <a:t>Human preparers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3931920"/>
            <a:ext cx="2816352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3A0B8"/>
                </a:solidFill>
                <a:latin typeface="Helvetica Neue"/>
              </a:rPr>
              <a:t>Accurate but slow and expensive. Turnaround is days, cost is hundreds of dollars, and you still can’t see how any number was reached.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3063240"/>
            <a:ext cx="3401568" cy="2331720"/>
          </a:xfrm>
          <a:prstGeom prst="roundRect">
            <a:avLst>
              <a:gd name="adj" fmla="val 6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3063240"/>
            <a:ext cx="3401568" cy="64008"/>
          </a:xfrm>
          <a:prstGeom prst="rect">
            <a:avLst/>
          </a:prstGeom>
          <a:solidFill>
            <a:srgbClr val="A9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13064" y="3447288"/>
            <a:ext cx="146304" cy="146304"/>
          </a:xfrm>
          <a:prstGeom prst="ellipse">
            <a:avLst/>
          </a:prstGeom>
          <a:solidFill>
            <a:srgbClr val="A9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87384" y="3337560"/>
            <a:ext cx="25786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4F6FB"/>
                </a:solidFill>
                <a:latin typeface="Helvetica Neue"/>
              </a:rPr>
              <a:t>Naïve “AI tax bots”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3931920"/>
            <a:ext cx="2816352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93A0B8"/>
                </a:solidFill>
                <a:latin typeface="Helvetica Neue"/>
              </a:rPr>
              <a:t>An LLM will happily invent income, withholding, or a credit. A hallucinated number on a legal filing is not a bug you can ship — it’s a liability.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715000"/>
            <a:ext cx="10460736" cy="749808"/>
          </a:xfrm>
          <a:prstGeom prst="roundRect">
            <a:avLst>
              <a:gd name="adj" fmla="val 10000"/>
            </a:avLst>
          </a:prstGeom>
          <a:solidFill>
            <a:srgbClr val="1B2438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7150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26D6D"/>
                </a:solidFill>
                <a:latin typeface="Helvetica Neue"/>
              </a:rPr>
              <a:t>Why it matters:  </a:t>
            </a:r>
            <a:r>
              <a:rPr sz="1450" b="0" i="0">
                <a:solidFill>
                  <a:srgbClr val="F4F6FB"/>
                </a:solidFill>
                <a:latin typeface="Helvetica Neue"/>
              </a:rPr>
              <a:t>a tax return is a signed legal document. Filers need software speed with preparer-grade accountability — a return that is fast, correct, and </a:t>
            </a:r>
            <a:r>
              <a:rPr sz="1450" b="1" i="0">
                <a:solidFill>
                  <a:srgbClr val="F4F6FB"/>
                </a:solidFill>
                <a:latin typeface="Helvetica Neue"/>
              </a:rPr>
              <a:t>auditable to the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40">
                <a:solidFill>
                  <a:srgbClr val="34D399"/>
                </a:solidFill>
                <a:latin typeface="Helvetica Neue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F4F6FB"/>
                </a:solidFill>
                <a:latin typeface="Helvetica Neue"/>
              </a:rPr>
              <a:t>Drop in your documents. Get back a return you can defend.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10469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 i="0">
                <a:solidFill>
                  <a:srgbClr val="F4F6FB"/>
                </a:solidFill>
                <a:latin typeface="Helvetica Neue"/>
              </a:rPr>
              <a:t>Five cooperating agents </a:t>
            </a:r>
            <a:r>
              <a:rPr sz="1500" b="0" i="0">
                <a:solidFill>
                  <a:srgbClr val="93A0B8"/>
                </a:solidFill>
                <a:latin typeface="Helvetica Neue"/>
              </a:rPr>
              <a:t>extract every figure from your source documents — grounding each to evidence — compute the return on a deterministic 2025 federal + state engine, challenge it with two independent verdicts (correctness and completeness), run a </a:t>
            </a:r>
            <a:r>
              <a:rPr sz="1500" b="1" i="0">
                <a:solidFill>
                  <a:srgbClr val="34D399"/>
                </a:solidFill>
                <a:latin typeface="Helvetica Neue"/>
              </a:rPr>
              <a:t>bounded self-healing loop </a:t>
            </a:r>
            <a:r>
              <a:rPr sz="1500" b="0" i="0">
                <a:solidFill>
                  <a:srgbClr val="93A0B8"/>
                </a:solidFill>
                <a:latin typeface="Helvetica Neue"/>
              </a:rPr>
              <a:t>on any failure, and emit an official-style Form 1040 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337560"/>
            <a:ext cx="5093208" cy="2331720"/>
          </a:xfrm>
          <a:prstGeom prst="roundRect">
            <a:avLst>
              <a:gd name="adj" fmla="val 6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61288" y="3611879"/>
            <a:ext cx="105156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3607308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30">
                <a:solidFill>
                  <a:srgbClr val="F26D6D"/>
                </a:solidFill>
                <a:latin typeface="Helvetica Neue"/>
              </a:rPr>
              <a:t>BEFORE</a:t>
            </a:r>
          </a:p>
        </p:txBody>
      </p:sp>
      <p:sp>
        <p:nvSpPr>
          <p:cNvPr id="10" name="Oval 9"/>
          <p:cNvSpPr/>
          <p:nvPr/>
        </p:nvSpPr>
        <p:spPr>
          <a:xfrm>
            <a:off x="1197864" y="4183380"/>
            <a:ext cx="82296" cy="82296"/>
          </a:xfrm>
          <a:prstGeom prst="ellipse">
            <a:avLst/>
          </a:prstGeom>
          <a:solidFill>
            <a:srgbClr val="667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5607" y="4114800"/>
            <a:ext cx="4224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0B8"/>
                </a:solidFill>
                <a:latin typeface="Helvetica Neue"/>
              </a:rPr>
              <a:t>Re-key every box by hand</a:t>
            </a:r>
          </a:p>
        </p:txBody>
      </p:sp>
      <p:sp>
        <p:nvSpPr>
          <p:cNvPr id="12" name="Oval 11"/>
          <p:cNvSpPr/>
          <p:nvPr/>
        </p:nvSpPr>
        <p:spPr>
          <a:xfrm>
            <a:off x="1197864" y="4567428"/>
            <a:ext cx="82296" cy="82296"/>
          </a:xfrm>
          <a:prstGeom prst="ellipse">
            <a:avLst/>
          </a:prstGeom>
          <a:solidFill>
            <a:srgbClr val="667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35607" y="4498848"/>
            <a:ext cx="4224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0B8"/>
                </a:solidFill>
                <a:latin typeface="Helvetica Neue"/>
              </a:rPr>
              <a:t>No trail from a number to its document</a:t>
            </a:r>
          </a:p>
        </p:txBody>
      </p:sp>
      <p:sp>
        <p:nvSpPr>
          <p:cNvPr id="14" name="Oval 13"/>
          <p:cNvSpPr/>
          <p:nvPr/>
        </p:nvSpPr>
        <p:spPr>
          <a:xfrm>
            <a:off x="1197864" y="4951476"/>
            <a:ext cx="82296" cy="82296"/>
          </a:xfrm>
          <a:prstGeom prst="ellipse">
            <a:avLst/>
          </a:prstGeom>
          <a:solidFill>
            <a:srgbClr val="667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5607" y="4882896"/>
            <a:ext cx="4224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0B8"/>
                </a:solidFill>
                <a:latin typeface="Helvetica Neue"/>
              </a:rPr>
              <a:t>Errors surface late — in an IRS letter</a:t>
            </a:r>
          </a:p>
        </p:txBody>
      </p:sp>
      <p:sp>
        <p:nvSpPr>
          <p:cNvPr id="16" name="Oval 15"/>
          <p:cNvSpPr/>
          <p:nvPr/>
        </p:nvSpPr>
        <p:spPr>
          <a:xfrm>
            <a:off x="1197864" y="5335524"/>
            <a:ext cx="82296" cy="82296"/>
          </a:xfrm>
          <a:prstGeom prst="ellipse">
            <a:avLst/>
          </a:prstGeom>
          <a:solidFill>
            <a:srgbClr val="667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35607" y="5266944"/>
            <a:ext cx="4224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93A0B8"/>
                </a:solidFill>
                <a:latin typeface="Helvetica Neue"/>
              </a:rPr>
              <a:t>“Trust me” numbers from an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3337560"/>
            <a:ext cx="5093208" cy="2331720"/>
          </a:xfrm>
          <a:prstGeom prst="roundRect">
            <a:avLst>
              <a:gd name="adj" fmla="val 6000"/>
            </a:avLst>
          </a:prstGeom>
          <a:solidFill>
            <a:srgbClr val="1B2438"/>
          </a:solidFill>
          <a:ln w="19050">
            <a:solidFill>
              <a:srgbClr val="34D399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65392" y="3611879"/>
            <a:ext cx="1417320" cy="2743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607308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30">
                <a:solidFill>
                  <a:srgbClr val="34D399"/>
                </a:solidFill>
                <a:latin typeface="Helvetica Neue"/>
              </a:rPr>
              <a:t>WITH THIS</a:t>
            </a:r>
          </a:p>
        </p:txBody>
      </p:sp>
      <p:sp>
        <p:nvSpPr>
          <p:cNvPr id="21" name="Oval 20"/>
          <p:cNvSpPr/>
          <p:nvPr/>
        </p:nvSpPr>
        <p:spPr>
          <a:xfrm>
            <a:off x="6601968" y="4169663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4114800"/>
            <a:ext cx="4224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4F6FB"/>
                </a:solidFill>
                <a:latin typeface="Helvetica Neue"/>
              </a:rPr>
              <a:t>Upload W-2s / 1099s / K-1 / 1098 — done</a:t>
            </a:r>
          </a:p>
        </p:txBody>
      </p:sp>
      <p:sp>
        <p:nvSpPr>
          <p:cNvPr id="23" name="Oval 22"/>
          <p:cNvSpPr/>
          <p:nvPr/>
        </p:nvSpPr>
        <p:spPr>
          <a:xfrm>
            <a:off x="6601968" y="45537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4498848"/>
            <a:ext cx="4224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4F6FB"/>
                </a:solidFill>
                <a:latin typeface="Helvetica Neue"/>
              </a:rPr>
              <a:t>Every figure carries page-level evidence</a:t>
            </a:r>
          </a:p>
        </p:txBody>
      </p:sp>
      <p:sp>
        <p:nvSpPr>
          <p:cNvPr id="25" name="Oval 24"/>
          <p:cNvSpPr/>
          <p:nvPr/>
        </p:nvSpPr>
        <p:spPr>
          <a:xfrm>
            <a:off x="6601968" y="4937759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76288" y="4882896"/>
            <a:ext cx="4224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4F6FB"/>
                </a:solidFill>
                <a:latin typeface="Helvetica Neue"/>
              </a:rPr>
              <a:t>Two verdicts catch wrong AND missing docs</a:t>
            </a:r>
          </a:p>
        </p:txBody>
      </p:sp>
      <p:sp>
        <p:nvSpPr>
          <p:cNvPr id="27" name="Oval 26"/>
          <p:cNvSpPr/>
          <p:nvPr/>
        </p:nvSpPr>
        <p:spPr>
          <a:xfrm>
            <a:off x="6601968" y="5321807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6288" y="5266944"/>
            <a:ext cx="42245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4F6FB"/>
                </a:solidFill>
                <a:latin typeface="Helvetica Neue"/>
              </a:rPr>
              <a:t>A model never authors a number on the return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943600"/>
            <a:ext cx="10460736" cy="658368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94360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34D399"/>
                </a:solidFill>
                <a:latin typeface="Helvetica Neue"/>
              </a:rPr>
              <a:t>Core value:  </a:t>
            </a:r>
            <a:r>
              <a:rPr sz="1450" b="0" i="0">
                <a:solidFill>
                  <a:srgbClr val="F4F6FB"/>
                </a:solidFill>
                <a:latin typeface="Helvetica Neue"/>
              </a:rPr>
              <a:t>a tax return where every monetary value is reproducible and traceable to a source document — preparer-grade accountability at software speed.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4008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40">
                <a:solidFill>
                  <a:srgbClr val="5B8DEF"/>
                </a:solidFill>
                <a:latin typeface="Helvetica Neue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F4F6FB"/>
                </a:solidFill>
                <a:latin typeface="Helvetica Neue"/>
              </a:rPr>
              <a:t>Local-first by default. One optional cloud component.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3401568" cy="1755648"/>
          </a:xfrm>
          <a:prstGeom prst="roundRect">
            <a:avLst>
              <a:gd name="adj" fmla="val 7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57400"/>
            <a:ext cx="64008" cy="1755648"/>
          </a:xfrm>
          <a:prstGeom prst="rect">
            <a:avLst/>
          </a:prstGeom>
          <a:solidFill>
            <a:srgbClr val="A9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58568"/>
            <a:ext cx="29443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60">
                <a:solidFill>
                  <a:srgbClr val="A98BF0"/>
                </a:solidFill>
                <a:latin typeface="Helvetica Neue"/>
              </a:rPr>
              <a:t>LLM /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24328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Ollama — local, no hosted API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050" b="0" i="0">
                <a:solidFill>
                  <a:srgbClr val="93A0B8"/>
                </a:solidFill>
                <a:latin typeface="Helvetica Neue"/>
              </a:rPr>
              <a:t>llama3.2-vision · qwen2.5-coder:7b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099816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Role: read &amp; classify only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050" b="0" i="0">
                <a:solidFill>
                  <a:srgbClr val="93A0B8"/>
                </a:solidFill>
                <a:latin typeface="Helvetica Neue"/>
              </a:rPr>
              <a:t>never authors tax numbers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2057400"/>
            <a:ext cx="3401568" cy="1755648"/>
          </a:xfrm>
          <a:prstGeom prst="roundRect">
            <a:avLst>
              <a:gd name="adj" fmla="val 7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44568" y="2057400"/>
            <a:ext cx="64008" cy="17556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2258568"/>
            <a:ext cx="29443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60">
                <a:solidFill>
                  <a:srgbClr val="34D399"/>
                </a:solidFill>
                <a:latin typeface="Helvetica Neue"/>
              </a:rPr>
              <a:t>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624328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LangGraph state machine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050" b="0" i="0">
                <a:solidFill>
                  <a:srgbClr val="93A0B8"/>
                </a:solidFill>
                <a:latin typeface="Helvetica Neue"/>
              </a:rPr>
              <a:t>checkpointed per submission_id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3099816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5-agent graph + verify gate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050" b="0" i="0">
                <a:solidFill>
                  <a:srgbClr val="93A0B8"/>
                </a:solidFill>
                <a:latin typeface="Helvetica Neue"/>
              </a:rPr>
              <a:t>bounded self-healing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2057400"/>
            <a:ext cx="3401568" cy="1755648"/>
          </a:xfrm>
          <a:prstGeom prst="roundRect">
            <a:avLst>
              <a:gd name="adj" fmla="val 7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6" y="2057400"/>
            <a:ext cx="64008" cy="175564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94776" y="2258568"/>
            <a:ext cx="29443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60">
                <a:solidFill>
                  <a:srgbClr val="5B8DEF"/>
                </a:solidFill>
                <a:latin typeface="Helvetica Neue"/>
              </a:rPr>
              <a:t>DOCUMENT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2624328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PyMuPDF + Tesseract OCR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050" b="0" i="0">
                <a:solidFill>
                  <a:srgbClr val="93A0B8"/>
                </a:solidFill>
                <a:latin typeface="Helvetica Neue"/>
              </a:rPr>
              <a:t>label-anchored W-2 parser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3099816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Azure Document Intelligence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050" b="0" i="0">
                <a:solidFill>
                  <a:srgbClr val="93A0B8"/>
                </a:solidFill>
                <a:latin typeface="Helvetica Neue"/>
              </a:rPr>
              <a:t>optional — prebuilt-tax.us.w2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087368"/>
            <a:ext cx="3401568" cy="1755648"/>
          </a:xfrm>
          <a:prstGeom prst="roundRect">
            <a:avLst>
              <a:gd name="adj" fmla="val 7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087368"/>
            <a:ext cx="64008" cy="1755648"/>
          </a:xfrm>
          <a:prstGeom prst="rect">
            <a:avLst/>
          </a:prstGeom>
          <a:solidFill>
            <a:srgbClr val="F5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288536"/>
            <a:ext cx="29443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60">
                <a:solidFill>
                  <a:srgbClr val="F5B547"/>
                </a:solidFill>
                <a:latin typeface="Helvetica Neue"/>
              </a:rPr>
              <a:t>TAX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654296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Pure-Python 2025 1040 engine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050" b="0" i="0">
                <a:solidFill>
                  <a:srgbClr val="93A0B8"/>
                </a:solidFill>
                <a:latin typeface="Helvetica Neue"/>
              </a:rPr>
              <a:t>deterministic, decimal-safe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129783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Versioned, source-cited rules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050" b="0" i="0">
                <a:solidFill>
                  <a:srgbClr val="93A0B8"/>
                </a:solidFill>
                <a:latin typeface="Helvetica Neue"/>
              </a:rPr>
              <a:t>42 states + DC · tenforty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44568" y="4087368"/>
            <a:ext cx="3401568" cy="1755648"/>
          </a:xfrm>
          <a:prstGeom prst="roundRect">
            <a:avLst>
              <a:gd name="adj" fmla="val 7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44568" y="4087368"/>
            <a:ext cx="64008" cy="175564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8888" y="4288536"/>
            <a:ext cx="29443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60">
                <a:solidFill>
                  <a:srgbClr val="5B8DEF"/>
                </a:solidFill>
                <a:latin typeface="Helvetica Neue"/>
              </a:rPr>
              <a:t>DATA &amp; PERSISTENCE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4654296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SQLAlchemy 2.x — SQLite default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050" b="0" i="0">
                <a:solidFill>
                  <a:srgbClr val="93A0B8"/>
                </a:solidFill>
                <a:latin typeface="Helvetica Neue"/>
              </a:rPr>
              <a:t>PostgreSQL via 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5129783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ChromaDB vector store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050" b="0" i="0">
                <a:solidFill>
                  <a:srgbClr val="93A0B8"/>
                </a:solidFill>
                <a:latin typeface="Helvetica Neue"/>
              </a:rPr>
              <a:t>embedded or standalone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0456" y="4087368"/>
            <a:ext cx="3401568" cy="1755648"/>
          </a:xfrm>
          <a:prstGeom prst="roundRect">
            <a:avLst>
              <a:gd name="adj" fmla="val 7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0456" y="4087368"/>
            <a:ext cx="64008" cy="17556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4776" y="4288536"/>
            <a:ext cx="29443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60">
                <a:solidFill>
                  <a:srgbClr val="34D399"/>
                </a:solidFill>
                <a:latin typeface="Helvetica Neue"/>
              </a:rPr>
              <a:t>API · UI · REPORTING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94776" y="4654296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FastAPI + Uvicorn · Pydantic v2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050" b="0" i="0">
                <a:solidFill>
                  <a:srgbClr val="93A0B8"/>
                </a:solidFill>
                <a:latin typeface="Helvetica Neue"/>
              </a:rPr>
              <a:t>async 202 + poll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4776" y="5129783"/>
            <a:ext cx="2898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React 18 + TS + Vite · ReportLab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1050" b="0" i="0">
                <a:solidFill>
                  <a:srgbClr val="93A0B8"/>
                </a:solidFill>
                <a:latin typeface="Helvetica Neue"/>
              </a:rPr>
              <a:t>line-numbered 1040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2636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6728C"/>
                </a:solidFill>
                <a:latin typeface="Helvetica Neue"/>
              </a:rPr>
              <a:t>No hosted LLM dependency — if the local models aren’t pulled, the pipeline degrades gracefully and the deterministic engine still carries the core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9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40">
                <a:solidFill>
                  <a:srgbClr val="A98BF0"/>
                </a:solidFill>
                <a:latin typeface="Helvetica Neue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04672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4F6FB"/>
                </a:solidFill>
                <a:latin typeface="Helvetica Neue"/>
              </a:rPr>
              <a:t>Verification gates the flow. Failures heal or escalate.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10460736" cy="566928"/>
          </a:xfrm>
          <a:prstGeom prst="roundRect">
            <a:avLst>
              <a:gd name="adj" fmla="val 10000"/>
            </a:avLst>
          </a:prstGeom>
          <a:solidFill>
            <a:srgbClr val="1B2438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1815084"/>
            <a:ext cx="128016" cy="128016"/>
          </a:xfrm>
          <a:prstGeom prst="ellipse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6464" y="1600200"/>
            <a:ext cx="1783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React 18 + Vite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256" y="1600200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66728C"/>
                </a:solidFill>
                <a:latin typeface="Helvetica Neue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593591" y="1815084"/>
            <a:ext cx="128016" cy="128016"/>
          </a:xfrm>
          <a:prstGeom prst="ellipse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5" y="1600200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FastAPI · async 202 + poll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600200"/>
            <a:ext cx="457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66728C"/>
                </a:solidFill>
                <a:latin typeface="Helvetica Neue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6821424" y="1815084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160020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4F6FB"/>
                </a:solidFill>
                <a:latin typeface="Helvetica Neue"/>
              </a:rPr>
              <a:t>LangGraph Orchestrator (checkpointed)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606040"/>
            <a:ext cx="2395728" cy="1051560"/>
          </a:xfrm>
          <a:prstGeom prst="roundRect">
            <a:avLst>
              <a:gd name="adj" fmla="val 9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2606040"/>
            <a:ext cx="2395728" cy="6400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2752344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6728C"/>
                </a:solidFill>
                <a:latin typeface="Helvetica Neue"/>
              </a:rPr>
              <a:t>01  </a:t>
            </a:r>
            <a:r>
              <a:rPr sz="1350" b="1" i="0" spc="20">
                <a:solidFill>
                  <a:srgbClr val="5B8DEF"/>
                </a:solidFill>
                <a:latin typeface="Helvetica Neue"/>
              </a:rPr>
              <a:t>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3035808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Helvetica Neue"/>
              </a:rPr>
              <a:t>Reading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" y="3264408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93A0B8"/>
                </a:solidFill>
                <a:latin typeface="Helvetica Neue"/>
              </a:rPr>
              <a:t>OCR + vision extraction, grounded to evidence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64408" y="3131820"/>
            <a:ext cx="292607" cy="0"/>
          </a:xfrm>
          <a:prstGeom prst="line">
            <a:avLst/>
          </a:prstGeom>
          <a:ln w="25400">
            <a:solidFill>
              <a:srgbClr val="5B8D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557015" y="2606040"/>
            <a:ext cx="2395728" cy="1051560"/>
          </a:xfrm>
          <a:prstGeom prst="roundRect">
            <a:avLst>
              <a:gd name="adj" fmla="val 9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57015" y="2606040"/>
            <a:ext cx="2395728" cy="6400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59" y="2752344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6728C"/>
                </a:solidFill>
                <a:latin typeface="Helvetica Neue"/>
              </a:rPr>
              <a:t>02  </a:t>
            </a:r>
            <a:r>
              <a:rPr sz="1350" b="1" i="0" spc="20">
                <a:solidFill>
                  <a:srgbClr val="5B8DEF"/>
                </a:solidFill>
                <a:latin typeface="Helvetica Neue"/>
              </a:rPr>
              <a:t>CALCULATE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59" y="3035808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Helvetica Neue"/>
              </a:rPr>
              <a:t>Tax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59" y="3264408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93A0B8"/>
                </a:solidFill>
                <a:latin typeface="Helvetica Neue"/>
              </a:rPr>
              <a:t>Deterministic 1040 on versioned rules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52744" y="3131820"/>
            <a:ext cx="292608" cy="0"/>
          </a:xfrm>
          <a:prstGeom prst="line">
            <a:avLst/>
          </a:prstGeom>
          <a:ln w="25400">
            <a:solidFill>
              <a:srgbClr val="5B8D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45352" y="2606040"/>
            <a:ext cx="2395728" cy="1051560"/>
          </a:xfrm>
          <a:prstGeom prst="roundRect">
            <a:avLst>
              <a:gd name="adj" fmla="val 9000"/>
            </a:avLst>
          </a:prstGeom>
          <a:solidFill>
            <a:srgbClr val="1B2438"/>
          </a:solidFill>
          <a:ln w="22225">
            <a:solidFill>
              <a:srgbClr val="34D399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2606040"/>
            <a:ext cx="2395728" cy="640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2752344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6728C"/>
                </a:solidFill>
                <a:latin typeface="Helvetica Neue"/>
              </a:rPr>
              <a:t>03  </a:t>
            </a:r>
            <a:r>
              <a:rPr sz="1350" b="1" i="0" spc="20">
                <a:solidFill>
                  <a:srgbClr val="34D399"/>
                </a:solidFill>
                <a:latin typeface="Helvetica Neue"/>
              </a:rP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3035808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Helvetica Neue"/>
              </a:rPr>
              <a:t>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3264408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93A0B8"/>
                </a:solidFill>
                <a:latin typeface="Helvetica Neue"/>
              </a:rPr>
              <a:t>Recompute · invariants · evidence · completeness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3131820"/>
            <a:ext cx="292608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01583" y="2295144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34D399"/>
                </a:solidFill>
                <a:latin typeface="Helvetica Neue"/>
              </a:rPr>
              <a:t>valid 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33688" y="2606040"/>
            <a:ext cx="2395728" cy="1051560"/>
          </a:xfrm>
          <a:prstGeom prst="roundRect">
            <a:avLst>
              <a:gd name="adj" fmla="val 9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33688" y="2606040"/>
            <a:ext cx="2395728" cy="64008"/>
          </a:xfrm>
          <a:prstGeom prst="rect">
            <a:avLst/>
          </a:prstGeom>
          <a:solidFill>
            <a:srgbClr val="A9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71432" y="2752344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6728C"/>
                </a:solidFill>
                <a:latin typeface="Helvetica Neue"/>
              </a:rPr>
              <a:t>04  </a:t>
            </a:r>
            <a:r>
              <a:rPr sz="1350" b="1" i="0" spc="20">
                <a:solidFill>
                  <a:srgbClr val="A98BF0"/>
                </a:solidFill>
                <a:latin typeface="Helvetica Neue"/>
              </a:rPr>
              <a:t>DOCUMENT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3035808"/>
            <a:ext cx="19385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Helvetica Neue"/>
              </a:rPr>
              <a:t>Documentation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3264408"/>
            <a:ext cx="19385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93A0B8"/>
                </a:solidFill>
                <a:latin typeface="Helvetica Neue"/>
              </a:rPr>
              <a:t>Line-numbered 1040 + schedules → PDF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67328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A98BF0"/>
                </a:solidFill>
                <a:latin typeface="Helvetica Neue"/>
              </a:rPr>
              <a:t>→  Completed + filing receipt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4343400"/>
            <a:ext cx="2395728" cy="868680"/>
          </a:xfrm>
          <a:prstGeom prst="roundRect">
            <a:avLst>
              <a:gd name="adj" fmla="val 9000"/>
            </a:avLst>
          </a:prstGeom>
          <a:solidFill>
            <a:srgbClr val="151C2C"/>
          </a:solidFill>
          <a:ln w="19050">
            <a:solidFill>
              <a:srgbClr val="F5B547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45352" y="4343400"/>
            <a:ext cx="2395728" cy="64008"/>
          </a:xfrm>
          <a:prstGeom prst="rect">
            <a:avLst/>
          </a:prstGeom>
          <a:solidFill>
            <a:srgbClr val="F5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3096" y="4489704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">
                <a:solidFill>
                  <a:srgbClr val="F5B547"/>
                </a:solidFill>
                <a:latin typeface="Helvetica Neue"/>
              </a:rPr>
              <a:t>REMEDIATE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83096" y="4764024"/>
            <a:ext cx="19385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93A0B8"/>
                </a:solidFill>
                <a:latin typeface="Helvetica Neue"/>
              </a:rPr>
              <a:t>Bounded deterministic fixes or re-extract. Never invents values.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43216" y="3657600"/>
            <a:ext cx="0" cy="685800"/>
          </a:xfrm>
          <a:prstGeom prst="line">
            <a:avLst/>
          </a:prstGeom>
          <a:ln w="25400">
            <a:solidFill>
              <a:srgbClr val="F5B54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488936" y="3854196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5B547"/>
                </a:solidFill>
                <a:latin typeface="Helvetica Neue"/>
              </a:rPr>
              <a:t>invalid 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33688" y="4343400"/>
            <a:ext cx="2395728" cy="868680"/>
          </a:xfrm>
          <a:prstGeom prst="roundRect">
            <a:avLst>
              <a:gd name="adj" fmla="val 9000"/>
            </a:avLst>
          </a:prstGeom>
          <a:solidFill>
            <a:srgbClr val="151C2C"/>
          </a:solidFill>
          <a:ln w="19050">
            <a:solidFill>
              <a:srgbClr val="F26D6D"/>
            </a:solidFill>
          </a:ln>
          <a:effectLst/>
          <a:effectLst>
            <a:outerShdw blurRad="90000" dist="381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33688" y="4343400"/>
            <a:ext cx="2395728" cy="6400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71432" y="4489704"/>
            <a:ext cx="19385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">
                <a:solidFill>
                  <a:srgbClr val="F26D6D"/>
                </a:solidFill>
                <a:latin typeface="Helvetica Neue"/>
              </a:rPr>
              <a:t>MANUAL 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71432" y="4764024"/>
            <a:ext cx="193852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93A0B8"/>
                </a:solidFill>
                <a:latin typeface="Helvetica Neue"/>
              </a:rPr>
              <a:t>Attempts exhausted → escalate. No silent acceptance.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641080" y="4773168"/>
            <a:ext cx="292608" cy="0"/>
          </a:xfrm>
          <a:prstGeom prst="line">
            <a:avLst/>
          </a:prstGeom>
          <a:ln w="22225">
            <a:solidFill>
              <a:srgbClr val="F26D6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5952744" y="4773168"/>
            <a:ext cx="292608" cy="0"/>
          </a:xfrm>
          <a:prstGeom prst="line">
            <a:avLst/>
          </a:prstGeom>
          <a:ln w="22225">
            <a:solidFill>
              <a:srgbClr val="F5B54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952744" y="3913632"/>
            <a:ext cx="0" cy="859536"/>
          </a:xfrm>
          <a:prstGeom prst="line">
            <a:avLst/>
          </a:prstGeom>
          <a:ln w="22225">
            <a:solidFill>
              <a:srgbClr val="F5B54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4754879" y="3913632"/>
            <a:ext cx="1197865" cy="0"/>
          </a:xfrm>
          <a:prstGeom prst="line">
            <a:avLst/>
          </a:prstGeom>
          <a:ln w="22225">
            <a:solidFill>
              <a:srgbClr val="F5B54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754879" y="3657600"/>
            <a:ext cx="0" cy="256032"/>
          </a:xfrm>
          <a:prstGeom prst="line">
            <a:avLst/>
          </a:prstGeom>
          <a:ln w="22225">
            <a:solidFill>
              <a:srgbClr val="F5B547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535424" y="390906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F5B547"/>
                </a:solidFill>
                <a:latin typeface="Helvetica Neue"/>
              </a:rPr>
              <a:t>re-extract /</a:t>
            </a:r>
          </a:p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F5B547"/>
                </a:solidFill>
                <a:latin typeface="Helvetica Neue"/>
              </a:rPr>
              <a:t>recompute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5806440"/>
            <a:ext cx="10460736" cy="749808"/>
          </a:xfrm>
          <a:prstGeom prst="roundRect">
            <a:avLst>
              <a:gd name="adj" fmla="val 10000"/>
            </a:avLst>
          </a:prstGeom>
          <a:solidFill>
            <a:srgbClr val="1B2438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61288" y="5925312"/>
            <a:ext cx="31211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50">
                <a:solidFill>
                  <a:srgbClr val="5B8DEF"/>
                </a:solidFill>
                <a:latin typeface="Helvetica Neue"/>
              </a:rPr>
              <a:t>INPUTS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1288" y="6172200"/>
            <a:ext cx="3121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Helvetica Neue"/>
              </a:rPr>
              <a:t>W-2 · 1099s · K-1 · 1098  (PDF/PNG/JPG)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55591" y="5952744"/>
            <a:ext cx="12801" cy="457200"/>
          </a:xfrm>
          <a:prstGeom prst="rect">
            <a:avLst/>
          </a:prstGeom>
          <a:solidFill>
            <a:srgbClr val="2A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48200" y="5925312"/>
            <a:ext cx="31211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50">
                <a:solidFill>
                  <a:srgbClr val="A98BF0"/>
                </a:solidFill>
                <a:latin typeface="Helvetica Neue"/>
              </a:rPr>
              <a:t>READ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48200" y="6172200"/>
            <a:ext cx="3121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Helvetica Neue"/>
              </a:rPr>
              <a:t>Tesseract OCR · llama3.2-vision · Azure DI*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42504" y="5952744"/>
            <a:ext cx="12801" cy="457200"/>
          </a:xfrm>
          <a:prstGeom prst="rect">
            <a:avLst/>
          </a:prstGeom>
          <a:solidFill>
            <a:srgbClr val="2A3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5112" y="5925312"/>
            <a:ext cx="31211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spc="50">
                <a:solidFill>
                  <a:srgbClr val="34D399"/>
                </a:solidFill>
                <a:latin typeface="Helvetica Neue"/>
              </a:rPr>
              <a:t>PERSISTENCE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35112" y="6172200"/>
            <a:ext cx="3121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4F6FB"/>
                </a:solidFill>
                <a:latin typeface="Helvetica Neue"/>
              </a:rPr>
              <a:t>SQLite / PostgreSQL · ChromaDB · file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40">
                <a:solidFill>
                  <a:srgbClr val="5B8DEF"/>
                </a:solidFill>
                <a:latin typeface="Helvetica Neue"/>
              </a:rPr>
              <a:t>LIVE DEMO  ·  STEP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Helvetica Neue"/>
              </a:rPr>
              <a:t>Drop the documents in</a:t>
            </a:r>
          </a:p>
        </p:txBody>
      </p:sp>
      <p:pic>
        <p:nvPicPr>
          <p:cNvPr id="6" name="Picture 5" descr="s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17320"/>
            <a:ext cx="5394960" cy="51105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1783080"/>
            <a:ext cx="5074920" cy="841248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74519"/>
            <a:ext cx="50292" cy="65836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190195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5B8DEF"/>
                </a:solidFill>
                <a:latin typeface="Helvetica Neue"/>
              </a:rPr>
              <a:t>POST  /api/v1/submissions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167128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Returns 202 + submission_id instantly — the five-agent graph runs in the background.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52344"/>
            <a:ext cx="5074920" cy="841248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843784"/>
            <a:ext cx="50292" cy="65836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2871215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5B8DEF"/>
                </a:solidFill>
                <a:latin typeface="Helvetica Neue"/>
              </a:rPr>
              <a:t>GET  /submissions/{id}  ·  poll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" y="3136391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The UI polls every 1.5s and streams live status until the run is terminal.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721608"/>
            <a:ext cx="5074920" cy="841248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813048"/>
            <a:ext cx="50292" cy="658368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424" y="38404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5B8DEF"/>
                </a:solidFill>
                <a:latin typeface="Helvetica Neue"/>
              </a:rPr>
              <a:t>ONE RUN, MANY 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4105656"/>
            <a:ext cx="4617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W-2 + 1099s + SSA-1099 + K-1 + 1098 are merged into a single return.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736592"/>
            <a:ext cx="5074920" cy="786384"/>
          </a:xfrm>
          <a:prstGeom prst="roundRect">
            <a:avLst>
              <a:gd name="adj" fmla="val 10000"/>
            </a:avLst>
          </a:prstGeom>
          <a:solidFill>
            <a:srgbClr val="1B2438"/>
          </a:solidFill>
          <a:ln w="15875">
            <a:solidFill>
              <a:srgbClr val="5B8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736592"/>
            <a:ext cx="46177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8DEF"/>
                </a:solidFill>
                <a:latin typeface="Helvetica Neue"/>
              </a:rPr>
              <a:t>On stage:  </a:t>
            </a:r>
            <a:r>
              <a:rPr sz="1150" b="0" i="0">
                <a:solidFill>
                  <a:srgbClr val="F4F6FB"/>
                </a:solidFill>
                <a:latin typeface="Helvetica Neue"/>
              </a:rPr>
              <a:t>narrate each agent as it fires, keep it deliberate, and trigger the edge case at the 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9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40">
                <a:solidFill>
                  <a:srgbClr val="A98BF0"/>
                </a:solidFill>
                <a:latin typeface="Helvetica Neue"/>
              </a:rPr>
              <a:t>LIVE DEMO  ·  STEP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Helvetica Neue"/>
              </a:rPr>
              <a:t>Five agents run — narrate the backend</a:t>
            </a:r>
          </a:p>
        </p:txBody>
      </p:sp>
      <p:pic>
        <p:nvPicPr>
          <p:cNvPr id="6" name="Picture 5" descr="s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10460736" cy="1512071"/>
          </a:xfrm>
          <a:prstGeom prst="rect">
            <a:avLst/>
          </a:prstGeom>
        </p:spPr>
      </p:pic>
      <p:pic>
        <p:nvPicPr>
          <p:cNvPr id="7" name="Picture 6" descr="s2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99232"/>
            <a:ext cx="5029200" cy="30530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72200" y="2999232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3090672"/>
            <a:ext cx="50292" cy="603503"/>
          </a:xfrm>
          <a:prstGeom prst="rect">
            <a:avLst/>
          </a:prstGeom>
          <a:solidFill>
            <a:srgbClr val="A9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311810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A98BF0"/>
                </a:solidFill>
                <a:latin typeface="Helvetica Neue"/>
              </a:rPr>
              <a:t>READING  ·  extract_page / extract_w2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9944" y="3383279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OCR + local vision + optional Azure DI — every value grounded to SourceEvidence.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58768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3950207"/>
            <a:ext cx="50292" cy="603503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3977639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5B8DEF"/>
                </a:solidFill>
                <a:latin typeface="Helvetica Neue"/>
              </a:rPr>
              <a:t>TAX PROCESSING  ·  calculate_tax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4242816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Deterministic 2025 Form 1040 engine — no LLM ever authors a number.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18304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4809744"/>
            <a:ext cx="50292" cy="603503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483717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34D399"/>
                </a:solidFill>
                <a:latin typeface="Helvetica Neue"/>
              </a:rPr>
              <a:t>VERIFICATION  ·  verify_submission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5102352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Independent recompute + W-2 statutory invariants + completeness.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5577840"/>
            <a:ext cx="5166360" cy="786384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5669279"/>
            <a:ext cx="50292" cy="603503"/>
          </a:xfrm>
          <a:prstGeom prst="rect">
            <a:avLst/>
          </a:prstGeom>
          <a:solidFill>
            <a:srgbClr val="F5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56967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F5B547"/>
                </a:solidFill>
                <a:latin typeface="Helvetica Neue"/>
              </a:rPr>
              <a:t>GRACEFUL DEGRADATION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5961888"/>
            <a:ext cx="4709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Log flags 'extractor unavailable' &amp; 'ChromaDB unavailable' — the run never crashes.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40">
                <a:solidFill>
                  <a:srgbClr val="34D399"/>
                </a:solidFill>
                <a:latin typeface="Helvetica Neue"/>
              </a:rPr>
              <a:t>LIVE DEMO  ·  STEP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Helvetica Neue"/>
              </a:rPr>
              <a:t>A return you can defend</a:t>
            </a:r>
          </a:p>
        </p:txBody>
      </p:sp>
      <p:pic>
        <p:nvPicPr>
          <p:cNvPr id="6" name="Picture 5" descr="s3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10460736" cy="1684265"/>
          </a:xfrm>
          <a:prstGeom prst="rect">
            <a:avLst/>
          </a:prstGeom>
        </p:spPr>
      </p:pic>
      <p:pic>
        <p:nvPicPr>
          <p:cNvPr id="7" name="Picture 6" descr="s3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00400"/>
            <a:ext cx="6720840" cy="30700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3200400"/>
            <a:ext cx="3566160" cy="804672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3291840"/>
            <a:ext cx="50292" cy="6217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10144" y="3319272"/>
            <a:ext cx="3154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34D399"/>
                </a:solidFill>
                <a:latin typeface="Helvetica Neue"/>
              </a:rPr>
              <a:t>99%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0144" y="3584448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Two independent verdicts: correctness ✓ and completeness ✓.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023360"/>
            <a:ext cx="3566160" cy="804672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4114800"/>
            <a:ext cx="50292" cy="621792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4142232"/>
            <a:ext cx="3154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5B8DEF"/>
                </a:solidFill>
                <a:latin typeface="Helvetica Neue"/>
              </a:rPr>
              <a:t>INDEPENDENT RECOMPUTE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4407408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The verifier re-derives the return from raw inputs.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846320"/>
            <a:ext cx="3566160" cy="804672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4937760"/>
            <a:ext cx="50292" cy="621792"/>
          </a:xfrm>
          <a:prstGeom prst="rect">
            <a:avLst/>
          </a:prstGeom>
          <a:solidFill>
            <a:srgbClr val="A9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4965192"/>
            <a:ext cx="3154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A98BF0"/>
                </a:solidFill>
                <a:latin typeface="Helvetica Neue"/>
              </a:rPr>
              <a:t>EVERY FIGURE GROUNDED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5230368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11 checks incl. W-2 statutory invariants — all green.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669280"/>
            <a:ext cx="3566160" cy="804672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5760720"/>
            <a:ext cx="50292" cy="621792"/>
          </a:xfrm>
          <a:prstGeom prst="rect">
            <a:avLst/>
          </a:prstGeom>
          <a:solidFill>
            <a:srgbClr val="F5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0144" y="5788152"/>
            <a:ext cx="3154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F5B547"/>
                </a:solidFill>
                <a:latin typeface="Helvetica Neue"/>
              </a:rPr>
              <a:t>DOWNLOAD 1040 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6053328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Line-numbered form + only the schedules it used.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6692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spc="340">
                <a:solidFill>
                  <a:srgbClr val="F5B547"/>
                </a:solidFill>
                <a:latin typeface="Helvetica Neue"/>
              </a:rPr>
              <a:t>LIVE DEMO  ·  STEP 4 OF 4  —  THE “WHAT IF”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4F6FB"/>
                </a:solidFill>
                <a:latin typeface="Helvetica Neue"/>
              </a:rPr>
              <a:t>What if a document is bad?</a:t>
            </a:r>
          </a:p>
        </p:txBody>
      </p:sp>
      <p:pic>
        <p:nvPicPr>
          <p:cNvPr id="6" name="Picture 5" descr="s4_he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5532120" cy="992863"/>
          </a:xfrm>
          <a:prstGeom prst="rect">
            <a:avLst/>
          </a:prstGeom>
        </p:spPr>
      </p:pic>
      <p:pic>
        <p:nvPicPr>
          <p:cNvPr id="7" name="Picture 6" descr="s4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43200"/>
            <a:ext cx="5532120" cy="882180"/>
          </a:xfrm>
          <a:prstGeom prst="rect">
            <a:avLst/>
          </a:prstGeom>
        </p:spPr>
      </p:pic>
      <p:pic>
        <p:nvPicPr>
          <p:cNvPr id="8" name="Picture 7" descr="s4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94760"/>
            <a:ext cx="5532120" cy="7996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754880"/>
            <a:ext cx="5532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66728C"/>
                </a:solidFill>
                <a:latin typeface="Helvetica Neue"/>
              </a:rPr>
              <a:t>Same run, live — the pipeline halts at Verification and refuses to finalize.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508760"/>
            <a:ext cx="4709160" cy="932688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1600200"/>
            <a:ext cx="50292" cy="749808"/>
          </a:xfrm>
          <a:prstGeom prst="rect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67144" y="1627631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F26D6D"/>
                </a:solidFill>
                <a:latin typeface="Helvetica Neue"/>
              </a:rPr>
              <a:t>TRIGGER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144" y="1892807"/>
            <a:ext cx="4251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Upload a W-2 with the SSN box blanked.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569463"/>
            <a:ext cx="4709160" cy="932688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2660903"/>
            <a:ext cx="50292" cy="749808"/>
          </a:xfrm>
          <a:prstGeom prst="rect">
            <a:avLst/>
          </a:prstGeom>
          <a:solidFill>
            <a:srgbClr val="F5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67144" y="2688335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F5B547"/>
                </a:solidFill>
                <a:latin typeface="Helvetica Neue"/>
              </a:rPr>
              <a:t>VERIFY ✗  →  REMEDIATE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144" y="2953511"/>
            <a:ext cx="4251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The 'Taxpayer SSN' check fails; remediation retries within its bounded cap (MAX_REMEDIATION_ATTEMPTS).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3630168"/>
            <a:ext cx="4709160" cy="932688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29400" y="3721607"/>
            <a:ext cx="50292" cy="749808"/>
          </a:xfrm>
          <a:prstGeom prst="rect">
            <a:avLst/>
          </a:prstGeom>
          <a:solidFill>
            <a:srgbClr val="A98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7144" y="3749039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A98BF0"/>
                </a:solidFill>
                <a:latin typeface="Helvetica Neue"/>
              </a:rPr>
              <a:t>ATTEMPTS EXHAUSTED  →  MANUAL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4014215"/>
            <a:ext cx="4251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No silent acceptance — the return is escalated, not guessed.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4690872"/>
            <a:ext cx="4709160" cy="932688"/>
          </a:xfrm>
          <a:prstGeom prst="roundRect">
            <a:avLst>
              <a:gd name="adj" fmla="val 10000"/>
            </a:avLst>
          </a:prstGeom>
          <a:solidFill>
            <a:srgbClr val="151C2C"/>
          </a:solidFill>
          <a:ln w="12700">
            <a:solidFill>
              <a:srgbClr val="2A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400" y="4782312"/>
            <a:ext cx="50292" cy="74980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67144" y="4809744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20">
                <a:solidFill>
                  <a:srgbClr val="34D399"/>
                </a:solidFill>
                <a:latin typeface="Helvetica Neue"/>
              </a:rPr>
              <a:t>WHY IT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5074920"/>
            <a:ext cx="4251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3A0B8"/>
                </a:solidFill>
                <a:latin typeface="Helvetica Neue"/>
              </a:rPr>
              <a:t>The safety property: the system refuses to invent a legal value it can’t verify to a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